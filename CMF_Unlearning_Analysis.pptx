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73152" cy="4114800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CMF-Compatible Machine Unlearning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B82D4"/>
                </a:solidFill>
              </a:rPr>
              <a:t>Algorithm Mechanisms &amp; CMF Compatibility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</a:rPr>
              <a:t>A deep-dive into 5 unlearning methods — NegGrad+, random_label,
SalUn, SCRUB, and TARUN — examining how each interacts with the
Class-Mean Feature (CMF) classifier reconstruction mechanism.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0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A3"/>
                </a:solidFill>
              </a:rPr>
              <a:t>Machine Unlearning  ·  CMF Compatibility  ·  5 Methods Analyzed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6492240"/>
            <a:ext cx="1737360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Compatible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6492240"/>
            <a:ext cx="173736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6492240"/>
            <a:ext cx="173736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Incompatible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Context &amp; CMF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02440"/>
          </a:solidFill>
          <a:ln w="12700">
            <a:solidFill>
              <a:srgbClr val="3B8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D4"/>
                </a:solidFill>
              </a:rPr>
              <a:t>What is CMF?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>Class-Mean Feature (CMF) replaces a learned linear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>classifier W with a non-parametric prototype: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>  W_c  =  mean { φ(x) : x ∈ retain, label = c }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>• Classifier is FROZEN during unlearning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>• Reconstructed after every epoch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>• Reflects representation geometry honestly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>• No gradient flows through W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>This creates an epoch-level feedback loop: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>  representation changes → W updated → next epoch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C9D1D9"/>
                </a:solidFill>
              </a:rPr>
              <a:t>  uses new W → further representation drift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822960"/>
            <a:ext cx="5943600" cy="5394960"/>
          </a:xfrm>
          <a:prstGeom prst="rect">
            <a:avLst/>
          </a:prstGeom>
          <a:solidFill>
            <a:srgbClr val="102440"/>
          </a:solidFill>
          <a:ln w="12700">
            <a:solidFill>
              <a:srgbClr val="7C5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9144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5CD8"/>
                </a:solidFill>
              </a:rPr>
              <a:t>5 Methods vs CMF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1463040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463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NegGrad+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7190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A3"/>
                </a:solidFill>
              </a:rPr>
              <a:t>Unbounded ascent — fast saturation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499616"/>
            <a:ext cx="16459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Neutral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2359152"/>
            <a:ext cx="347472" cy="3474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3591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random_label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6151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A3"/>
                </a:solidFill>
              </a:rPr>
              <a:t>Random relabeling — inconsistent dir.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2395728"/>
            <a:ext cx="164592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Partial ✓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3255264"/>
            <a:ext cx="347472" cy="3474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2552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5112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A3"/>
                </a:solidFill>
              </a:rPr>
              <a:t>random_label + static saliency mask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3291840"/>
            <a:ext cx="164592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Partial ✓</a:t>
            </a:r>
          </a:p>
        </p:txBody>
      </p:sp>
      <p:sp>
        <p:nvSpPr>
          <p:cNvPr id="21" name="Oval 20"/>
          <p:cNvSpPr/>
          <p:nvPr/>
        </p:nvSpPr>
        <p:spPr>
          <a:xfrm>
            <a:off x="6126480" y="4151376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1513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SCRUB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4074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A3"/>
                </a:solidFill>
              </a:rPr>
              <a:t>KL-divergence to frozen teacher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4187952"/>
            <a:ext cx="164592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Bad ✗</a:t>
            </a:r>
          </a:p>
        </p:txBody>
      </p:sp>
      <p:sp>
        <p:nvSpPr>
          <p:cNvPr id="25" name="Oval 24"/>
          <p:cNvSpPr/>
          <p:nvPr/>
        </p:nvSpPr>
        <p:spPr>
          <a:xfrm>
            <a:off x="6126480" y="5047488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50474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A3"/>
                </a:solidFill>
              </a:rPr>
              <a:t>Adversarial noise + impair/repair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5084064"/>
            <a:ext cx="164592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Worst ✗✗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A3"/>
                </a:solidFill>
              </a:rPr>
              <a:t>Key insight: CMF amplifies any consistent unidirectional signal in the representation 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① NegGrad+  (grad_ascent_descent)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164592"/>
            <a:ext cx="173736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NEUTRAL / Pre-existing issue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5303520" cy="5029200"/>
          </a:xfrm>
          <a:prstGeom prst="rect">
            <a:avLst/>
          </a:prstGeom>
          <a:solidFill>
            <a:srgbClr val="1024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W_fixed = CMFweights.detach()   # frozen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# (a) Forget — MAXIMIZE loss (negative sign)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loss_ascent = −0.5 × CE(z_f @ W_fixed.T, y_f)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loss_ascent.backward()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# (b) Retain — minimize loss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loss_descent = CE(z_r @ W_fixed.T, y_r)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loss_descent.backward()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optimizer.step()  # cumulative gradients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⚠ No lower bound on −CE  →  unbounded ascent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⚠ Runs for 3 epochs only (no early stop)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749808"/>
            <a:ext cx="6126480" cy="2286000"/>
          </a:xfrm>
          <a:prstGeom prst="rect">
            <a:avLst/>
          </a:prstGeom>
          <a:solidFill>
            <a:srgbClr val="1024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8229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What happens to NCC_forget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29844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Model original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298448"/>
            <a:ext cx="3867912" cy="201168"/>
          </a:xfrm>
          <a:prstGeom prst="rect">
            <a:avLst/>
          </a:prstGeom>
          <a:solidFill>
            <a:srgbClr val="8B9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0" y="12984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94.0%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75564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Oracle (ideal)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755648"/>
            <a:ext cx="276926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4228" y="17556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67.3%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21284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No-CMF (alone)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212848"/>
            <a:ext cx="2289886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34854" y="22128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55.6%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67004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CMF-Static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670048"/>
            <a:ext cx="2359014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3982" y="26700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57.3%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12724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Post-hoc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3127248"/>
            <a:ext cx="3136712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680" y="31272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76.2%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154680"/>
            <a:ext cx="6126480" cy="2624328"/>
          </a:xfrm>
          <a:prstGeom prst="rect">
            <a:avLst/>
          </a:prstGeom>
          <a:solidFill>
            <a:srgbClr val="102440"/>
          </a:solidFill>
          <a:ln w="12700">
            <a:solidFill>
              <a:srgbClr val="3B8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24612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D4"/>
                </a:solidFill>
              </a:rPr>
              <a:t>Key Findings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65760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▸ Problem exists WITHOUT CMF (illusion_gap = −11.65)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▸ Unbounded −CE has NO saturation — ascent overshoots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Oracle (67.3%) in just 3 epochs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▸ CMF arrives too late: representation already beyond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the target threshold when W is first reconstructed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▸ Post-hoc succeeds here: representation is actually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good; only the rigid CMF formula was the obstacle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▸ CMF is NOT the primary cause — NegGrad+ design flaw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(missing early-stop / ascent ceiling) is root cause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② random_label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164592"/>
            <a:ext cx="1737360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PARTIAL COMPATIBILITY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5303520" cy="5029200"/>
          </a:xfrm>
          <a:prstGeom prst="rect">
            <a:avLst/>
          </a:prstGeom>
          <a:solidFill>
            <a:srgbClr val="1024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# Mixed loader: forget (fake labels) + retain (true)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for epoch in 1..4: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  for (x, y_true) in mixed_loader: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    y_train = y_true.clone()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    # Replace forget labels with RANDOM wrong class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    y_train[forget_mask] = random_choice(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        non_forget_classes)   # re-sampled every epoch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    W_fixed = CMFweights.detach()   # frozen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    logits  = φ(x) @ W_fixed.T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    loss    = CE(logits, y_train)   # normal DESCENT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    loss.backward(); optimizer.step()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★ NOT gradient ascent — it is descent on wrong labels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9D1D9"/>
                </a:solidFill>
              </a:rPr>
              <a:t>★ Target class changes every epoch (random walk)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749808"/>
            <a:ext cx="6126480" cy="2286000"/>
          </a:xfrm>
          <a:prstGeom prst="rect">
            <a:avLst/>
          </a:prstGeom>
          <a:solidFill>
            <a:srgbClr val="1024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8229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Feature-space behaviour across epochs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23444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Epoch 1: forget-feature pulled → class B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Epoch 2: forget-feature pulled → class D  (different!)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Epoch 3: forget-feature pulled → class A  (different!)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Epoch 4: forget-feature pulled → class F  (different!)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Result: 'random walk' — no consistent direction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CMF can amplify only average net displacement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 → partial effect, not full unlearning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154680"/>
            <a:ext cx="6126480" cy="1600200"/>
          </a:xfrm>
          <a:prstGeom prst="rect">
            <a:avLst/>
          </a:prstGeom>
          <a:solidFill>
            <a:srgbClr val="1024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21868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NCC_forget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47872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Oracle (ideal)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547872"/>
            <a:ext cx="276926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4228" y="35478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67.3%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005072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No-CMF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0050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462272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No-CMF NCC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462272"/>
            <a:ext cx="4002877" cy="201168"/>
          </a:xfrm>
          <a:prstGeom prst="rect">
            <a:avLst/>
          </a:prstGeom>
          <a:solidFill>
            <a:srgbClr val="8B9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47845" y="44622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97.3%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919472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CMF-Static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4919472"/>
            <a:ext cx="3605387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50355" y="49194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87.6%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4846320"/>
            <a:ext cx="6126480" cy="960120"/>
          </a:xfrm>
          <a:prstGeom prst="rect">
            <a:avLst/>
          </a:prstGeom>
          <a:solidFill>
            <a:srgbClr val="102440"/>
          </a:solidFill>
          <a:ln w="12700">
            <a:solidFill>
              <a:srgbClr val="3B8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919472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C9D1D9"/>
                </a:solidFill>
              </a:rPr>
              <a:t>▸ Illusion exposed: No-CMF Output=0% even though NCC=97.28%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9D1D9"/>
                </a:solidFill>
              </a:rPr>
              <a:t>▸ CMF corrects this illusion, pulling NCC_forget from 97% → 87.62%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9D1D9"/>
                </a:solidFill>
              </a:rPr>
              <a:t>▸ Inconsistent target direction limits how far CMF can push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9D1D9"/>
                </a:solidFill>
              </a:rPr>
              <a:t>▸ Retain quality well-preserved (94.55%) — no deliberate retain damage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③ SalUn  (Saliency-guided Unlearning)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64592"/>
            <a:ext cx="1737360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PARTIAL (weaker than random_label)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1612880" cy="1417320"/>
          </a:xfrm>
          <a:prstGeom prst="rect">
            <a:avLst/>
          </a:prstGeom>
          <a:solidFill>
            <a:srgbClr val="1024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Two-phase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0292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3B8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435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B82D4"/>
                </a:solidFill>
              </a:rPr>
              <a:t>Phase 1 — Build saliency mask  (run ONCE on θ₀)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Accumulate |∇L_CE(forget, true_labels)| → keep top 50% params → binary mask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D4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57784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435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</a:rPr>
              <a:t>Phase 2 — Train like random_label  (4 epochs, mask applied)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p.grad *= hard_mask[p]  for each param  → 50% params frozen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5303520" cy="3657600"/>
          </a:xfrm>
          <a:prstGeom prst="rect">
            <a:avLst/>
          </a:prstGeom>
          <a:solidFill>
            <a:srgbClr val="1024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Two compounding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① Reduced amplitude of representation shift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 Only 50% of encoder params can respond to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 the relabeling signal — smaller net movement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 compared to unconstrained random_label.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② Mask is FROZEN at θ₀ and NEVER updated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 Top-50% params by |∇| on original model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 may not match the 'important' params after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 a few epochs of unlearning. Mask continues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 to point to the wrong locations throughout.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 Combined: less freedom + wrong address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 → representation drifts LESS than random_label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C9D1D9"/>
                </a:solidFill>
              </a:rPr>
              <a:t>   → CMF effect weaker: 84.46% vs 87.62%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2286000"/>
            <a:ext cx="6126480" cy="3657600"/>
          </a:xfrm>
          <a:prstGeom prst="rect">
            <a:avLst/>
          </a:prstGeom>
          <a:solidFill>
            <a:srgbClr val="102440"/>
          </a:solidFill>
          <a:ln w="12700">
            <a:solidFill>
              <a:srgbClr val="3B8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D4"/>
                </a:solidFill>
              </a:rPr>
              <a:t>Scores vs random_label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78892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Oracle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788920"/>
            <a:ext cx="2338486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96686" y="27889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67.3%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2783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random_label (No-CMF NCC)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227832"/>
            <a:ext cx="3380207" cy="201168"/>
          </a:xfrm>
          <a:prstGeom prst="rect">
            <a:avLst/>
          </a:prstGeom>
          <a:solidFill>
            <a:srgbClr val="8B9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38407" y="32278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97.3%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66674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random_label CMF-Static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666744"/>
            <a:ext cx="3044549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02749" y="36667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87.6%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10565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SalUn (No-CMF NCC)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4105656"/>
            <a:ext cx="3374300" cy="201168"/>
          </a:xfrm>
          <a:prstGeom prst="rect">
            <a:avLst/>
          </a:prstGeom>
          <a:solidFill>
            <a:srgbClr val="8B9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32500" y="410565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97.1%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54456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SalUn CMF-Static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544568"/>
            <a:ext cx="293474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92948" y="45445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84.5%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577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A3"/>
                </a:solidFill>
              </a:rPr>
              <a:t>SalUn ≈ random_label in core mechanism — mask adds cost without benefit under CMF.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④ SCRUB  (Teacher-Student KL Distillation)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0" y="164592"/>
            <a:ext cx="173736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HIGHLY INCOMPATIBLE ✗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5303520" cy="5029200"/>
          </a:xfrm>
          <a:prstGeom prst="rect">
            <a:avLst/>
          </a:prstGeom>
          <a:solidFill>
            <a:srgbClr val="1024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teacher = deepcopy(Θ₀);  teacher.freeze()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student = deepcopy(Θ₀)   # to be updated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for epoch in 1..3:                    # 3 epochs total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  if epoch ≤ 2:   # MAX-STEP (2 epochs)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    # Maximize KL: push student AWAY from teacher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    loss = −KL( student(x_f)/T ‖ teacher(x_f)/T 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    loss.backward();  optimizer.step()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  # MIN-STEP (every epoch)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  # Minimize KL: keep student CLOSE to teacher on retain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  loss = KL(retain) + α·CE(retain)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  loss.backward();  optimizer.step()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  student.recompute_cmf()   # CMF after each epoch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★ KL-divergence has CLEAR fixed target (teacher)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C9D1D9"/>
                </a:solidFill>
              </a:rPr>
              <a:t>★ CONSISTENT direction across all 2 max-steps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749808"/>
            <a:ext cx="6126480" cy="2926080"/>
          </a:xfrm>
          <a:prstGeom prst="rect">
            <a:avLst/>
          </a:prstGeom>
          <a:solidFill>
            <a:srgbClr val="1024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8229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CMF Positive Feedback 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61872"/>
            <a:ext cx="2560320" cy="68580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MAX-STEP:
push student away
from teacher (KL↑)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261872"/>
            <a:ext cx="2560320" cy="68580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Feature shifts
consistently in
one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2377440"/>
            <a:ext cx="2560320" cy="685800"/>
          </a:xfrm>
          <a:prstGeom prst="rect">
            <a:avLst/>
          </a:prstGeom>
          <a:solidFill>
            <a:srgbClr val="7835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CMF recomputes
class-mean using
shifted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377440"/>
            <a:ext cx="2560320" cy="685800"/>
          </a:xfrm>
          <a:prstGeom prst="rect">
            <a:avLst/>
          </a:prstGeom>
          <a:solidFill>
            <a:srgbClr val="7835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Next epoch:
KL measured from
new shifted 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463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87451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5468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⚡ RUNAWAY loop — 2 consistent max-steps are enough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749039"/>
            <a:ext cx="6126480" cy="2029968"/>
          </a:xfrm>
          <a:prstGeom prst="rect">
            <a:avLst/>
          </a:prstGeom>
          <a:solidFill>
            <a:srgbClr val="102440"/>
          </a:solidFill>
          <a:ln w="12700">
            <a:solidFill>
              <a:srgbClr val="3B8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822191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D4"/>
                </a:solidFill>
              </a:rPr>
              <a:t>NCC_forget: SCRUB alone vs with CMF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2519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Oracle (ideal)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4251960"/>
            <a:ext cx="2461564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16844" y="42519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67.3%  (Δ+0.0)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6908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SCRUB alone (NCC)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4690872"/>
            <a:ext cx="2400848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6128" y="46908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65.6%  (Δ-1.7)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129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CMF-Static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5129784"/>
            <a:ext cx="1258214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3494" y="512978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34.4%  (Δ-32.9)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568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Post-hoc (NCC)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5568696"/>
            <a:ext cx="925738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1018" y="55686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25.3%  (Δ-42.0)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83387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A3"/>
                </a:solidFill>
              </a:rPr>
              <a:t>Paradox: SCRUB's high signal quality is exactly what makes it CMF's worst victim.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⑤ TARUN  (UNSIR — Adversarial Noise Unlearning)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0" y="164592"/>
            <a:ext cx="173736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WORST COMPATIBILITY ✗✗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1612880" cy="1508760"/>
          </a:xfrm>
          <a:prstGeom prst="rect">
            <a:avLst/>
          </a:prstGeom>
          <a:solidFill>
            <a:srgbClr val="102440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3-phase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566160" cy="914400"/>
          </a:xfrm>
          <a:prstGeom prst="rect">
            <a:avLst/>
          </a:prstGeom>
          <a:solidFill>
            <a:srgbClr val="4A0404"/>
          </a:solidFill>
          <a:ln w="19050">
            <a:solidFill>
              <a:srgbClr val="7C5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C5CD8"/>
                </a:solidFill>
              </a:rPr>
              <a:t>Noise Gen</a:t>
            </a:r>
          </a:p>
          <a:p>
            <a:pPr algn="ctr"/>
            <a:r>
              <a:rPr sz="1000">
                <a:solidFill>
                  <a:srgbClr val="C9D1D9"/>
                </a:solidFill>
              </a:rPr>
              <a:t>Optimise synthetic
noise to maximise
forget-class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566160" cy="914400"/>
          </a:xfrm>
          <a:prstGeom prst="rect">
            <a:avLst/>
          </a:prstGeom>
          <a:solidFill>
            <a:srgbClr val="5C070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F4444"/>
                </a:solidFill>
              </a:rPr>
              <a:t>Impair</a:t>
            </a:r>
          </a:p>
          <a:p>
            <a:pPr algn="ctr"/>
            <a:r>
              <a:rPr sz="1000">
                <a:solidFill>
                  <a:srgbClr val="C9D1D9"/>
                </a:solidFill>
              </a:rPr>
              <a:t>Train 3 epochs on
(noise, forget_label)
+ retain_data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188720"/>
            <a:ext cx="3566160" cy="914400"/>
          </a:xfrm>
          <a:prstGeom prst="rect">
            <a:avLst/>
          </a:prstGeom>
          <a:solidFill>
            <a:srgbClr val="5C1A0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</a:rPr>
              <a:t>Repair</a:t>
            </a:r>
          </a:p>
          <a:p>
            <a:pPr algn="ctr"/>
            <a:r>
              <a:rPr sz="1000">
                <a:solidFill>
                  <a:srgbClr val="C9D1D9"/>
                </a:solidFill>
              </a:rPr>
              <a:t>Train 3 epochs on
retain_data only
(CMF recomputed each ep.)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B94A3"/>
                </a:solidFill>
              </a:rPr>
              <a:t>Total: 3+3=6 encoder update epochs (2× the nominal 3-epoch setting)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60320"/>
            <a:ext cx="5303520" cy="3383280"/>
          </a:xfrm>
          <a:prstGeom prst="rect">
            <a:avLst/>
          </a:prstGeom>
          <a:solidFill>
            <a:srgbClr val="102440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3 compounding incompatibility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906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D8"/>
                </a:solidFill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906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5CD8"/>
                </a:solidFill>
              </a:rPr>
              <a:t>Adversarially optimal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649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Noise designed to maximally stimulate forget-class activations
→ strongest possible ascent signal (stronger than SCRUB)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050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Consistent direction × 3 epochs (Impair)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793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6 total epochs of same-direction drift gives CMF feedback
loop maximum time to compound — double the iterations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194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194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Semantically invalid class-mean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937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CMF recomputes forget-class mean from noise images, not real
data → mean anchors to an artificial, unstable point in space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560320"/>
            <a:ext cx="6126480" cy="3383280"/>
          </a:xfrm>
          <a:prstGeom prst="rect">
            <a:avLst/>
          </a:prstGeom>
          <a:solidFill>
            <a:srgbClr val="102440"/>
          </a:solidFill>
          <a:ln w="12700">
            <a:solidFill>
              <a:srgbClr val="3B8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517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D4"/>
                </a:solidFill>
              </a:rPr>
              <a:t>NCC_forget scores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10896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Oracle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108960"/>
            <a:ext cx="2338486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40654" y="31089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67.3%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47872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TARUN alone (NCC)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547872"/>
            <a:ext cx="2495543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7711" y="354787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71.8%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98678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CMF-Static (NCC)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3986784"/>
            <a:ext cx="45345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5618" y="398678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13.1%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42569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Retain (No-CMF)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4425696"/>
            <a:ext cx="3211336" cy="201168"/>
          </a:xfrm>
          <a:prstGeom prst="rect">
            <a:avLst/>
          </a:prstGeom>
          <a:solidFill>
            <a:srgbClr val="8B9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13504" y="44256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92.4%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86460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Retain (CMF-Static)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4864608"/>
            <a:ext cx="3218980" cy="201168"/>
          </a:xfrm>
          <a:prstGeom prst="rect">
            <a:avLst/>
          </a:prstGeom>
          <a:solidFill>
            <a:srgbClr val="8B9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21148" y="48646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92.6%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1663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A3"/>
                </a:solidFill>
              </a:rPr>
              <a:t>Repair phase preserves retain (92.64%) but cannot restore
a forget-class mean that has drifted to a semantically invalid location.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8521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▶ Worst collapse in the benchmark: 71.82 → 13.05  (Δ = −58.77 pts)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Summary: Algorithm Properties vs CMF Compatibility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77240"/>
            <a:ext cx="1463040" cy="384048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138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777240"/>
            <a:ext cx="2011680" cy="384048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8138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Ascent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777240"/>
            <a:ext cx="1280160" cy="384048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81381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Fixed Target?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777240"/>
            <a:ext cx="1463040" cy="384048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8138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Consistent Dir.?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777240"/>
            <a:ext cx="1143000" cy="384048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813816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Real Data?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777240"/>
            <a:ext cx="1463040" cy="384048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8138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CMF Compat.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777240"/>
            <a:ext cx="1371600" cy="384048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81381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Score 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161288"/>
            <a:ext cx="10195560" cy="859536"/>
          </a:xfrm>
          <a:prstGeom prst="rect">
            <a:avLst/>
          </a:prstGeom>
          <a:solidFill>
            <a:srgbClr val="1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3624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NegGrad+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136245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−CE (true labels)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13624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No (unbounded)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3624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Yes, too fast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362456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44384" y="1408176"/>
            <a:ext cx="135331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4384" y="1417320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Neutral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4173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−11.65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011680"/>
            <a:ext cx="10195560" cy="9144"/>
          </a:xfrm>
          <a:prstGeom prst="rect">
            <a:avLst/>
          </a:prstGeom>
          <a:solidFill>
            <a:srgbClr val="30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2020824"/>
            <a:ext cx="10195560" cy="859536"/>
          </a:xfrm>
          <a:prstGeom prst="rect">
            <a:avLst/>
          </a:prstGeom>
          <a:solidFill>
            <a:srgbClr val="1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2219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random_label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22219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CE on random fake 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222199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No (changes/ep)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2219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No (random walk)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22199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44384" y="2267712"/>
            <a:ext cx="1353312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44384" y="2276856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Partial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22768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+30.0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871216"/>
            <a:ext cx="10195560" cy="9144"/>
          </a:xfrm>
          <a:prstGeom prst="rect">
            <a:avLst/>
          </a:prstGeom>
          <a:solidFill>
            <a:srgbClr val="30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2880360"/>
            <a:ext cx="10195560" cy="859536"/>
          </a:xfrm>
          <a:prstGeom prst="rect">
            <a:avLst/>
          </a:prstGeom>
          <a:solidFill>
            <a:srgbClr val="1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081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SalUn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30815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random_label + mask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308152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081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No, + mask limit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081528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44384" y="3127248"/>
            <a:ext cx="1353312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44384" y="3136392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Partial 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31363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+26.6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730752"/>
            <a:ext cx="10195560" cy="9144"/>
          </a:xfrm>
          <a:prstGeom prst="rect">
            <a:avLst/>
          </a:prstGeom>
          <a:solidFill>
            <a:srgbClr val="30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8600" y="3739896"/>
            <a:ext cx="10195560" cy="859536"/>
          </a:xfrm>
          <a:prstGeom prst="rect">
            <a:avLst/>
          </a:prstGeom>
          <a:solidFill>
            <a:srgbClr val="13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9410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SCRUB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37360" y="394106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KL → frozen teacher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40" y="39410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Yes (teacher)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39410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Yes (2 max-steps)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3941064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44384" y="3986784"/>
            <a:ext cx="1353312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44384" y="3995928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Very Bad 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39959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−31.24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4590288"/>
            <a:ext cx="10195560" cy="9144"/>
          </a:xfrm>
          <a:prstGeom prst="rect">
            <a:avLst/>
          </a:prstGeom>
          <a:solidFill>
            <a:srgbClr val="30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28600" y="4599432"/>
            <a:ext cx="10195560" cy="859536"/>
          </a:xfrm>
          <a:prstGeom prst="rect">
            <a:avLst/>
          </a:prstGeom>
          <a:solidFill>
            <a:srgbClr val="1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4800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TARUN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37360" y="4800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CE on adversarial noise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49040" y="4800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Yes (max-conf)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4800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Yes (3 imp. ep.)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48006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44384" y="4846320"/>
            <a:ext cx="135331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44384" y="4855464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Worst ✗✗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98280" y="48554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−58.77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5449824"/>
            <a:ext cx="10195560" cy="9144"/>
          </a:xfrm>
          <a:prstGeom prst="rect">
            <a:avLst/>
          </a:prstGeom>
          <a:solidFill>
            <a:srgbClr val="30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8600" y="6400800"/>
            <a:ext cx="11750040" cy="347472"/>
          </a:xfrm>
          <a:prstGeom prst="rect">
            <a:avLst/>
          </a:prstGeom>
          <a:solidFill>
            <a:srgbClr val="10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437376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A3"/>
                </a:solidFill>
              </a:rPr>
              <a:t>Score Δ = NCC_forget(No-CMF) − NCC_forget(CMF-Static)   Negative = CMF made unlearning worse   Positive = CMF improved unlearning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Findings &amp;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3657600" cy="5120640"/>
          </a:xfrm>
          <a:prstGeom prst="rect">
            <a:avLst/>
          </a:prstGeom>
          <a:solidFill>
            <a:srgbClr val="102440"/>
          </a:solidFill>
          <a:ln w="19050">
            <a:solidFill>
              <a:srgbClr val="3B8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3657600" cy="64008"/>
          </a:xfrm>
          <a:prstGeom prst="rect">
            <a:avLst/>
          </a:prstGeom>
          <a:solidFill>
            <a:srgbClr val="3B8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D4"/>
                </a:solidFill>
              </a:rPr>
              <a:t>The CMF Amplification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CMF does not judge whether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unlearning is 'correct'.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It amplifies ANY consistent,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directional representation shift.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High-quality signals (SCRUB,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TARUN) → strongest amplification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→ worst collapse.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Low-quality signals (random_label)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→ weak amplification → partial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improvement only.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749808"/>
            <a:ext cx="3657600" cy="5120640"/>
          </a:xfrm>
          <a:prstGeom prst="rect">
            <a:avLst/>
          </a:prstGeom>
          <a:solidFill>
            <a:srgbClr val="1024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749808"/>
            <a:ext cx="36576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8686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Representation vs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32588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Two separate failure modes: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① Classifier too rigid: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  NegGrad+ — representation fine,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  CMF formula prevents adaptation.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  → Post-hoc fixes this easily.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② Representation truly damaged: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  SCRUB/TARUN — features drift too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  far in feature space.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  → Post-hoc cannot recover.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  → Must fix at encoder level.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749808"/>
            <a:ext cx="3657600" cy="5120640"/>
          </a:xfrm>
          <a:prstGeom prst="rect">
            <a:avLst/>
          </a:prstGeom>
          <a:solidFill>
            <a:srgbClr val="102440"/>
          </a:solidFill>
          <a:ln w="19050">
            <a:solidFill>
              <a:srgbClr val="7C5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749808"/>
            <a:ext cx="3657600" cy="64008"/>
          </a:xfrm>
          <a:prstGeom prst="rect">
            <a:avLst/>
          </a:prstGeom>
          <a:solidFill>
            <a:srgbClr val="7C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8686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D8"/>
                </a:solidFill>
              </a:rPr>
              <a:t>Design Principle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32588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Compatibility ∝ 1 / (signal quality)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For safe CMF integration: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• Avoid single fixed target (teacher)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• Avoid consistent multi-epoch direction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• Use bounded ascent objectives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• Consider per-epoch early-stop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Adaptive CMF variants (post-hoc,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budget-shared) partially mitigate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9D1D9"/>
                </a:solidFill>
              </a:rPr>
              <a:t>feedback for well-behaved methods.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943600"/>
            <a:ext cx="11521440" cy="18288"/>
          </a:xfrm>
          <a:prstGeom prst="rect">
            <a:avLst/>
          </a:prstGeom>
          <a:solidFill>
            <a:srgbClr val="7C5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0350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9D1D9"/>
                </a:solidFill>
              </a:rPr>
              <a:t>"What makes a machine unlearning method good in isolation is precisely what makes it dangerous when combined with CMF."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