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5166360"/>
            <a:ext cx="109728" cy="109728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20240" y="5166360"/>
            <a:ext cx="109728" cy="109728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74720" y="5166360"/>
            <a:ext cx="109728" cy="109728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0" y="5166360"/>
            <a:ext cx="109728" cy="109728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0" y="5166360"/>
            <a:ext cx="109728" cy="109728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0" y="5166360"/>
            <a:ext cx="109728" cy="109728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0" y="5166360"/>
            <a:ext cx="109728" cy="109728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0" y="5166360"/>
            <a:ext cx="109728" cy="109728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CMF Method Compatibility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1ABC9C"/>
                </a:solidFill>
              </a:rPr>
              <a:t>Algorithmic Mechanisms of 5 Unlearning Methods &amp; Why They (Don't) Work with CMF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5A5A6"/>
                </a:solidFill>
              </a:rPr>
              <a:t>CIFAR-10 · ResNet-18 · Whole-Class Unlearning · 10 Forget Classes · Seed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3383280" cy="13716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C1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</a:rPr>
              <a:t>Methods Analyzed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200400"/>
            <a:ext cx="3383280" cy="13716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291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BC9C"/>
                </a:solidFill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</a:rPr>
              <a:t>Experiments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3200400"/>
            <a:ext cx="3383280" cy="13716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3291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74C3C"/>
                </a:solidFill>
              </a:rPr>
              <a:t>−58.77 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</a:rPr>
              <a:t>Max CMF Damage (TARUN)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Based on: Gao et al. (2026) – An Illusion of Unlearning? · arXiv:2604.08271v1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Illusion of Unlearning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Why output accuracy alone is misleading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2651760" cy="2377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θ₀
Full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Retain: 94%
Forget: 94%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5A5A6"/>
                </a:solidFill>
              </a:rPr>
              <a:t>Trained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2651760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θ_u
Unlearned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Retain: 92%
Forget: 13%
(Output)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5A5A6"/>
                </a:solidFill>
              </a:rPr>
              <a:t>After Unlearn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554480"/>
            <a:ext cx="2651760" cy="2377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Linear
Probe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Retain: 92%
Forget: 43%
(Recovered!)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5A5A6"/>
                </a:solidFill>
              </a:rPr>
              <a:t>Probe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1247120" cy="12801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622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⚡ Core Finding: Representations persist even when output accuracy drops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NCC (Nearest Class Center) is the ground-truth signal: it reads directly from the feature space — bypassing the output head entirely.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508760"/>
            <a:ext cx="2103120" cy="24688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NCC Forget Acc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2011680"/>
            <a:ext cx="123078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20116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Oracle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58600" y="20116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67%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2468880"/>
            <a:ext cx="238658" cy="2560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4688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TARUN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58600" y="24688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2926080"/>
            <a:ext cx="629107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9260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SCRUB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58600" y="29260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34%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3383280"/>
            <a:ext cx="1048268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33832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NegGrad+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58600" y="33832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57%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5 Unlearning Methods — Algorithm Overview &amp; CMF Compatibility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Each method has a unique unlearning signal; CMF amplifies those it can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17320"/>
            <a:ext cx="196596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4356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417320"/>
            <a:ext cx="233172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435608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Signal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17320"/>
            <a:ext cx="114300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35608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Bounded?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417320"/>
            <a:ext cx="233172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435608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Consistent Direction?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114300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435608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 Data?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417320"/>
            <a:ext cx="160020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43560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CMF Compat.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28800"/>
            <a:ext cx="1965960" cy="749808"/>
          </a:xfrm>
          <a:prstGeom prst="rect">
            <a:avLst/>
          </a:prstGeom>
          <a:solidFill>
            <a:srgbClr val="FA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1874519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grad_ascent_descent
(NegGrad+)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1828800"/>
            <a:ext cx="2331720" cy="749808"/>
          </a:xfrm>
          <a:prstGeom prst="rect">
            <a:avLst/>
          </a:prstGeom>
          <a:solidFill>
            <a:srgbClr val="FA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1874519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−CE on true labels
(Gradient Ascent)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828800"/>
            <a:ext cx="1143000" cy="749808"/>
          </a:xfrm>
          <a:prstGeom prst="rect">
            <a:avLst/>
          </a:prstGeom>
          <a:solidFill>
            <a:srgbClr val="FA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874519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✗ (unbounded)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828800"/>
            <a:ext cx="2331720" cy="749808"/>
          </a:xfrm>
          <a:prstGeom prst="rect">
            <a:avLst/>
          </a:prstGeom>
          <a:solidFill>
            <a:srgbClr val="FA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874519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but saturates fast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1143000" cy="749808"/>
          </a:xfrm>
          <a:prstGeom prst="rect">
            <a:avLst/>
          </a:prstGeom>
          <a:solidFill>
            <a:srgbClr val="FA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1874519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828800"/>
            <a:ext cx="1600200" cy="7498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874519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Neutral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633472"/>
            <a:ext cx="196596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2679191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random_label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33472"/>
            <a:ext cx="233172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80" y="2679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CE on random wrong
labels (Descent!)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633472"/>
            <a:ext cx="11430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2679191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2633472"/>
            <a:ext cx="233172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2679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✗ random each epoch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2633472"/>
            <a:ext cx="11430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2679191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633472"/>
            <a:ext cx="1600200" cy="7498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2679191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Partial ~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438144"/>
            <a:ext cx="1965960" cy="749808"/>
          </a:xfrm>
          <a:prstGeom prst="rect">
            <a:avLst/>
          </a:prstGeom>
          <a:solidFill>
            <a:srgbClr val="D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3483863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salun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438144"/>
            <a:ext cx="2331720" cy="749808"/>
          </a:xfrm>
          <a:prstGeom prst="rect">
            <a:avLst/>
          </a:prstGeom>
          <a:solidFill>
            <a:srgbClr val="D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40280" y="3483863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Same as random_label
+ saliency mask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438144"/>
            <a:ext cx="1143000" cy="749808"/>
          </a:xfrm>
          <a:prstGeom prst="rect">
            <a:avLst/>
          </a:prstGeom>
          <a:solidFill>
            <a:srgbClr val="D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3483863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3438144"/>
            <a:ext cx="2331720" cy="749808"/>
          </a:xfrm>
          <a:prstGeom prst="rect">
            <a:avLst/>
          </a:prstGeom>
          <a:solidFill>
            <a:srgbClr val="D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06440" y="3483863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✗ + mask freezes 50%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3438144"/>
            <a:ext cx="1143000" cy="749808"/>
          </a:xfrm>
          <a:prstGeom prst="rect">
            <a:avLst/>
          </a:prstGeom>
          <a:solidFill>
            <a:srgbClr val="D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80" y="3483863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3438144"/>
            <a:ext cx="1600200" cy="7498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600" y="3483863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Partial ~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4242816"/>
            <a:ext cx="196596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" y="4288536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scrub (SCRUB)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94560" y="4242816"/>
            <a:ext cx="233172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40280" y="428853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−KL to fixed teacher
(Max-step)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4242816"/>
            <a:ext cx="11430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17720" y="4288536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(saturates)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4242816"/>
            <a:ext cx="233172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06440" y="428853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✓✓ consistent 2ep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38160" y="4242816"/>
            <a:ext cx="11430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83880" y="4288536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4242816"/>
            <a:ext cx="1600200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72600" y="4288536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Very Bad 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" y="5047488"/>
            <a:ext cx="1965960" cy="749808"/>
          </a:xfrm>
          <a:prstGeom prst="rect">
            <a:avLst/>
          </a:prstGeom>
          <a:solidFill>
            <a:srgbClr val="D7B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8600" y="5093207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tarun (UNSIR)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94560" y="5047488"/>
            <a:ext cx="2331720" cy="749808"/>
          </a:xfrm>
          <a:prstGeom prst="rect">
            <a:avLst/>
          </a:prstGeom>
          <a:solidFill>
            <a:srgbClr val="D7B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0280" y="5093207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CE on adversarial
noise inputs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5047488"/>
            <a:ext cx="1143000" cy="749808"/>
          </a:xfrm>
          <a:prstGeom prst="rect">
            <a:avLst/>
          </a:prstGeom>
          <a:solidFill>
            <a:srgbClr val="D7B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17720" y="5093207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5047488"/>
            <a:ext cx="2331720" cy="749808"/>
          </a:xfrm>
          <a:prstGeom prst="rect">
            <a:avLst/>
          </a:prstGeom>
          <a:solidFill>
            <a:srgbClr val="D7B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06440" y="5093207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✓✓✓ 3+3 epochs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8160" y="5047488"/>
            <a:ext cx="1143000" cy="749808"/>
          </a:xfrm>
          <a:prstGeom prst="rect">
            <a:avLst/>
          </a:prstGeom>
          <a:solidFill>
            <a:srgbClr val="D7B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83880" y="5093207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✗ noise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26880" y="5047488"/>
            <a:ext cx="1600200" cy="7498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72600" y="5093207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WORST ✗✗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grad_ascent_descent (NegGrad+)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Unbounded ascent loss — saturates before CMF can amplify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5303520" cy="32004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</a:rPr>
              <a:t>loss_ascent = −0.5 × CE(z_f @ W_fixed.T, y_f)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31136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</a:rPr>
              <a:t>loss_retain =  1.0 × CE(z_r @ W_fixed.T, y_r)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42032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∇ = ∇_ascent + ∇_retain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5292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θ ← θ − lr · ∇  [3 epochs]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7472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</a:rPr>
              <a:t>W_fixed = CMFweights.detach()  # W frozen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85616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C9C"/>
                </a:solidFill>
              </a:rPr>
              <a:t># after each epoch: W ← recompute_cmf()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463040"/>
            <a:ext cx="6126480" cy="32004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5087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NCC Forget Accuracy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178180"/>
            <a:ext cx="1097280" cy="1119499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315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No CMF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85814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5A5A6"/>
                </a:solidFill>
              </a:rPr>
              <a:t>55.6%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144383"/>
            <a:ext cx="1097280" cy="115329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4315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CMF-Static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824343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57.3%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764176"/>
            <a:ext cx="1097280" cy="1533503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4315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Post-hoc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44413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BC9C"/>
                </a:solidFill>
              </a:rPr>
              <a:t>76.2%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87000" y="2943819"/>
            <a:ext cx="1097280" cy="13538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4315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Oracle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2623779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67.3%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00600"/>
            <a:ext cx="11612880" cy="15544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4632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⚠ Key Insight: CMF is NOT the main problem 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5780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NegGrad+'s unbounded −CE loss already over-erases (NCC=55.65 &lt; Oracle=67.30) BEFORE CMF touches anything. Illusion-gap = −11.65 (the only negative gap in the benchmark). Post-hoc helps by replacing the rigid CMF classifier with a learned one on existing features.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random_label &amp; SalUn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Partial compatibility — inconsistent direction limits CMF amplification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76072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356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random_label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64792"/>
            <a:ext cx="5760720" cy="128016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y_train[forget_mask] = random_choice(non_forget_classes)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2128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loss = CE(z @ W_fixed.T, y_train)  # standard descent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968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# target re-sampled EVERY epoch → random walk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90672"/>
            <a:ext cx="57607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1272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NCC Forget Acc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07053"/>
            <a:ext cx="1234439" cy="115638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69087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No CMF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14445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</a:rPr>
              <a:t>97.3%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3621883"/>
            <a:ext cx="1234439" cy="104155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469087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Static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329275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87.6%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732553"/>
            <a:ext cx="1234439" cy="93088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469087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Post-hoc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439945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78.3%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863431"/>
            <a:ext cx="1234439" cy="800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69087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Oracle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570823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67.3%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983480"/>
            <a:ext cx="576072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029200"/>
            <a:ext cx="5577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Random walk in feature space: CMF has no consistent
direction to amplify → partial progress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417320"/>
            <a:ext cx="576072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14356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SalUn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764792"/>
            <a:ext cx="5760720" cy="128016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mask = top_50%(|∇CE(θ₀, forget_data)|)  # computed once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2128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p.grad *= mask   # 50% of params blocked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5968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# Same relabel as random_label underneath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090672"/>
            <a:ext cx="57607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31272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NCC Forget Acc (%)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515849"/>
            <a:ext cx="1234439" cy="114759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9087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No CMF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223241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</a:rPr>
              <a:t>96.5%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79" y="3659447"/>
            <a:ext cx="1234439" cy="10039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79" y="469087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Static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3366839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84.5%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877933"/>
            <a:ext cx="1234439" cy="78550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469087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Post-hoc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585325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66.1%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78440" y="3863431"/>
            <a:ext cx="1234439" cy="800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440" y="469087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</a:rPr>
              <a:t>Oracle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3570823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67.3%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983480"/>
            <a:ext cx="576072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5029200"/>
            <a:ext cx="5577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Fixed mask from θ₀ + random walk → less movement than
random_label → slightly weaker NCC 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SCRUB — The Positive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Best unlearning signal alone, worst outcome with CMF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37744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Max-step:
−KL(student ‖ teacher)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237744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Feature shifts
away from teacher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2377440" cy="822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CMF recomputes
class-mean 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83480"/>
            <a:ext cx="2377440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Next epoch KL
now uses drifted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4C3C"/>
                </a:solidFill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57016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4C3C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00016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4C3C"/>
                </a:solidFill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20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74C3C"/>
                </a:solidFill>
              </a:rPr>
              <a:t>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83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1463040"/>
            <a:ext cx="4572000" cy="4800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1508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NCC Forget Accuracy (%)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799953"/>
            <a:ext cx="914400" cy="228080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61081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No CMF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479913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5A5A6"/>
                </a:solidFill>
              </a:rPr>
              <a:t>65.6%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4885456"/>
            <a:ext cx="914400" cy="1195303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61081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CMF-Static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56541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34.4%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5201308"/>
            <a:ext cx="914400" cy="879451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61081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Post-hoc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88126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E44AD"/>
                </a:solidFill>
              </a:rPr>
              <a:t>25.3%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3742273"/>
            <a:ext cx="914400" cy="233848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61081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Oracle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422233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67.3%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389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Δ CMF-Static vs alone: −31.24 pts  ← strongest feedback in entire benchmark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1463040"/>
            <a:ext cx="3566160" cy="4800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SCRUB Run Timeline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1965960"/>
            <a:ext cx="685800" cy="4297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1965960"/>
            <a:ext cx="685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Epoch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01167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Max-step: KL↑ on forget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2496312"/>
            <a:ext cx="685800" cy="4297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2496312"/>
            <a:ext cx="685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Epoch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5420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Min-step: KL↓ on retain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3026663"/>
            <a:ext cx="685800" cy="4297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026663"/>
            <a:ext cx="685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Epoch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072383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recompute_cmf() →W updates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557015"/>
            <a:ext cx="685800" cy="4297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3557015"/>
            <a:ext cx="685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Epoch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360273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Max-step: KL↑ on forget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4087368"/>
            <a:ext cx="685800" cy="4297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4087368"/>
            <a:ext cx="685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Epoch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133087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Min-step: KL↓ on retain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4617720"/>
            <a:ext cx="685800" cy="4297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4617720"/>
            <a:ext cx="685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Epoch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6634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recompute_cmf() →W updates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5148071"/>
            <a:ext cx="685800" cy="4297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5148071"/>
            <a:ext cx="685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Epoch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1937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Min-step ONLY (msteps=2)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5678423"/>
            <a:ext cx="685800" cy="4297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0" y="5678423"/>
            <a:ext cx="685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Epoch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724143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recompute_cmf() → final 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TARUN (UNSIR) — Three Compounding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Adversarial noise + consistent direction + 6 epoch CMF loop = worst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84048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356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Adversarial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3657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Noise images optimised
to maximise model
confidence on forget-class.
Not real data — CMF
computes class-mean of
'what confuses the model
most', not real features.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754880"/>
            <a:ext cx="384048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800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Noise ≠ Real features → class-mean drifts into meaningless region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84048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4356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Consistent Direction
×6 Epochs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874519"/>
            <a:ext cx="3657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3 Impair epochs (noise)
+ 3 Repair epochs (retain)
= 6 total CMF-reconstruction
cycles vs SCRUB's 3.
Every cycle the drifted
class-mean is treated as
ground truth for the next.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4754880"/>
            <a:ext cx="38404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4800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2× more feedback loop iterations than SCRUB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840480" cy="411480"/>
          </a:xfrm>
          <a:prstGeom prst="rect">
            <a:avLst/>
          </a:prstGeom>
          <a:solidFill>
            <a:srgbClr val="833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356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Unrecoverable
Repair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19"/>
            <a:ext cx="3657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Repair uses only retain
data — but class-mean for
forget-class is NEVER
updated with real forget
data during repair.
Retain accuracy is saved;
forget representation stays
irreversibly corrupted.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4754880"/>
            <a:ext cx="3840480" cy="548640"/>
          </a:xfrm>
          <a:prstGeom prst="rect">
            <a:avLst/>
          </a:prstGeom>
          <a:solidFill>
            <a:srgbClr val="833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800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Repair cannot fix what Impair destroyed in feature space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394960"/>
            <a:ext cx="11612880" cy="13258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40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No-CMF NCC Forget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5A5A6"/>
                </a:solidFill>
              </a:rPr>
              <a:t>71.82%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440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CMF-Static NCC Forget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852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74C3C"/>
                </a:solidFill>
              </a:rPr>
              <a:t>13.05%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440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CMF-Static Output Forget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852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74C3C"/>
                </a:solidFill>
              </a:rPr>
              <a:t>13.15%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440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Post-hoc Output Forget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852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BC9C"/>
                </a:solidFill>
              </a:rPr>
              <a:t>0.03%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5440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Damage (Δ Static−No CMF)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5852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E44AD"/>
                </a:solidFill>
              </a:rPr>
              <a:t>−58.77 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NCC Forget Accuracy — All Methods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Lower = better unlearning from representation perspective (Oracle = 67.3%)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4389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8797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Oracle 67.3%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44002"/>
            <a:ext cx="1124712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455334"/>
            <a:ext cx="562356" cy="2442545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3582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</a:rPr>
              <a:t>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7572" y="3381597"/>
            <a:ext cx="562356" cy="251628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" y="3079845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6504" y="2552053"/>
            <a:ext cx="562356" cy="334582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46504" y="2250301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43599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3E50"/>
                </a:solidFill>
              </a:rPr>
              <a:t>NegGrad+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8064" y="1628144"/>
            <a:ext cx="562356" cy="4269735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1326392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</a:rPr>
              <a:t>97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6996" y="2052133"/>
            <a:ext cx="562356" cy="384574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6996" y="1750381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88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95928" y="2460760"/>
            <a:ext cx="562356" cy="3437119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5928" y="2159008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2344" y="5943599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3E50"/>
                </a:solidFill>
              </a:rPr>
              <a:t>Random Label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7488" y="1660623"/>
            <a:ext cx="562356" cy="423725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1358871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</a:rPr>
              <a:t>97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46420" y="2190829"/>
            <a:ext cx="562356" cy="37070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46420" y="1889077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84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997549"/>
            <a:ext cx="562356" cy="290033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2695797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1768" y="5943599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3E50"/>
                </a:solidFill>
              </a:rPr>
              <a:t>SalUn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96912" y="3016861"/>
            <a:ext cx="562356" cy="2881018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96912" y="2715109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</a:rPr>
              <a:t>66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95844" y="4388022"/>
            <a:ext cx="562356" cy="1509857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95844" y="4086270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34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94776" y="4786993"/>
            <a:ext cx="562356" cy="111088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4776" y="4485241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1192" y="5943599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3E50"/>
                </a:solidFill>
              </a:rPr>
              <a:t>SCRUB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46336" y="2745614"/>
            <a:ext cx="562356" cy="3152265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46336" y="2443862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</a:rPr>
              <a:t>72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5267" y="5325099"/>
            <a:ext cx="562356" cy="5727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5267" y="5023347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44200" y="5378208"/>
            <a:ext cx="562356" cy="519671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44200" y="5076456"/>
            <a:ext cx="562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0616" y="5943599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3E50"/>
                </a:solidFill>
              </a:rPr>
              <a:t>TARUN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6172200"/>
            <a:ext cx="228600" cy="201168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61539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No CMF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6172200"/>
            <a:ext cx="228600" cy="2011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39" y="61539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CMF-Static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6172200"/>
            <a:ext cx="228600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61539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Post-hoc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" y="5760719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</a:rPr>
              <a:t>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897879"/>
            <a:ext cx="1124712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" y="466344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</a:rPr>
              <a:t>25%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800600"/>
            <a:ext cx="1124712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" y="356616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703320"/>
            <a:ext cx="1124712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" y="2468879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</a:rPr>
              <a:t>75%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606039"/>
            <a:ext cx="1124712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137160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</a:rPr>
              <a:t>100%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1508760"/>
            <a:ext cx="1124712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Output Forget Accuracy: Static vs Post-hoc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CIFAR-10 mean across 10 classes — lower is better unlearning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8504" y="3640573"/>
            <a:ext cx="748893" cy="221158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3320533"/>
            <a:ext cx="74889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51.5%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5780" y="3876946"/>
            <a:ext cx="748893" cy="1975213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5780" y="3556906"/>
            <a:ext cx="74889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46.0%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4" y="5897880"/>
            <a:ext cx="1711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Δ=-5.5%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" y="6199632"/>
            <a:ext cx="1711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</a:rPr>
              <a:t>NegGrad+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8200" y="2101574"/>
            <a:ext cx="748893" cy="3750585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8200" y="1781534"/>
            <a:ext cx="74889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87.3%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5476" y="2486646"/>
            <a:ext cx="748893" cy="3365513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5476" y="2166606"/>
            <a:ext cx="74889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78.3%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8200" y="5897880"/>
            <a:ext cx="1711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Δ=-9.0%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8200" y="6199632"/>
            <a:ext cx="1711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</a:rPr>
              <a:t>Random Label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17896" y="2246406"/>
            <a:ext cx="748893" cy="3605753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7896" y="1926366"/>
            <a:ext cx="74889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83.9%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95172" y="3012253"/>
            <a:ext cx="748893" cy="283990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5172" y="2692213"/>
            <a:ext cx="74889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66.1%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7896" y="5897880"/>
            <a:ext cx="1711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Δ=-17.8%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7896" y="6199632"/>
            <a:ext cx="1711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</a:rPr>
              <a:t>SalUn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7592" y="4453694"/>
            <a:ext cx="748893" cy="1398465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57592" y="4133654"/>
            <a:ext cx="74889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32.5%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4868" y="5652317"/>
            <a:ext cx="748893" cy="19984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4868" y="5332277"/>
            <a:ext cx="74889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4.7%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7592" y="5897880"/>
            <a:ext cx="1711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Δ=-27.9%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7592" y="6199632"/>
            <a:ext cx="1711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</a:rPr>
              <a:t>SCRUB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97288" y="5287015"/>
            <a:ext cx="748893" cy="56514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7288" y="4966975"/>
            <a:ext cx="74889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</a:rPr>
              <a:t>13.2%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74564" y="5850870"/>
            <a:ext cx="748893" cy="1289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74564" y="5530830"/>
            <a:ext cx="74889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</a:rPr>
              <a:t>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7288" y="5897880"/>
            <a:ext cx="1711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Δ=-13.1%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7288" y="6199632"/>
            <a:ext cx="1711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</a:rPr>
              <a:t>TARUN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6172200"/>
            <a:ext cx="228600" cy="2011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615391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CMF-Static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6172200"/>
            <a:ext cx="228600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615391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Post-hoc k=5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715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</a:rPr>
              <a:t>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852160"/>
            <a:ext cx="1069848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6405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</a:rPr>
              <a:t>25%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777740"/>
            <a:ext cx="1069848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3566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</a:rPr>
              <a:t>50%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703320"/>
            <a:ext cx="1069848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24917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</a:rPr>
              <a:t>75%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2628900"/>
            <a:ext cx="1069848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1417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</a:rP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1554480"/>
            <a:ext cx="1069848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Compatibility Matrix: What Makes a Method CMF-Friendly?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Three algorithmic properties determine amplification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17320"/>
            <a:ext cx="1645919" cy="4114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39" y="14356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Fixed Target?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417320"/>
            <a:ext cx="1645919" cy="4114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14356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Consistent
Direction?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1645919" cy="4114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4356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 Data?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417320"/>
            <a:ext cx="2011679" cy="4114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435608"/>
            <a:ext cx="1920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CMF
Compatibility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20240"/>
            <a:ext cx="2651760" cy="8046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11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NegGrad+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920240"/>
            <a:ext cx="1645919" cy="804672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39" y="195681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✗ 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920240"/>
            <a:ext cx="1645919" cy="80467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95681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Yes
(saturates fast)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920240"/>
            <a:ext cx="1645919" cy="80467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195681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920240"/>
            <a:ext cx="2011679" cy="804672"/>
          </a:xfrm>
          <a:prstGeom prst="rect">
            <a:avLst/>
          </a:prstGeom>
          <a:solidFill>
            <a:srgbClr val="FA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956816"/>
            <a:ext cx="19202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Neutral
(problem pre-exists CMF)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788920"/>
            <a:ext cx="2651760" cy="8046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8803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Random Label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788920"/>
            <a:ext cx="1645919" cy="804672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39" y="282549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✗ No
(random each ep)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2788920"/>
            <a:ext cx="1645919" cy="804672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282549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✗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2788920"/>
            <a:ext cx="1645919" cy="80467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282549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Real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2788920"/>
            <a:ext cx="2011679" cy="804672"/>
          </a:xfrm>
          <a:prstGeom prst="rect">
            <a:avLst/>
          </a:prstGeom>
          <a:solidFill>
            <a:srgbClr val="D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2825496"/>
            <a:ext cx="19202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Partial ✓
(random walk limits amp.)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657600"/>
            <a:ext cx="2651760" cy="8046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74903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SalUn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3657600"/>
            <a:ext cx="1645919" cy="804672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39" y="369417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✗ No
(random each ep)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3657600"/>
            <a:ext cx="1645919" cy="804672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69417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✗ No
+50% mask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3657600"/>
            <a:ext cx="1645919" cy="80467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6600" y="369417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Real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657600"/>
            <a:ext cx="2011679" cy="804672"/>
          </a:xfrm>
          <a:prstGeom prst="rect">
            <a:avLst/>
          </a:prstGeom>
          <a:solidFill>
            <a:srgbClr val="D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3694176"/>
            <a:ext cx="19202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Partial ✓
(weaker than rand.label)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526279"/>
            <a:ext cx="2651760" cy="8046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6177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SCRUB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4526279"/>
            <a:ext cx="1645919" cy="80467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63239" y="4562855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Yes
(teacher frozen)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4526279"/>
            <a:ext cx="1645919" cy="8046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20" y="4562855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✓✓ 2 epochs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4526279"/>
            <a:ext cx="1645919" cy="80467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4562855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Real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4526279"/>
            <a:ext cx="2011679" cy="804672"/>
          </a:xfrm>
          <a:prstGeom prst="rect">
            <a:avLst/>
          </a:prstGeom>
          <a:solidFill>
            <a:srgbClr val="F5B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4562855"/>
            <a:ext cx="19202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Very Bad ✗
(−31.24 pts NCC)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394960"/>
            <a:ext cx="2651760" cy="8046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486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TARUN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5394960"/>
            <a:ext cx="1645919" cy="80467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63239" y="543153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Yes
(max confidence)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5394960"/>
            <a:ext cx="1645919" cy="8046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543153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✓✓✓ 6 epochs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40880" y="5394960"/>
            <a:ext cx="1645919" cy="804672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86600" y="5431536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✗ Noise!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5394960"/>
            <a:ext cx="2011679" cy="804672"/>
          </a:xfrm>
          <a:prstGeom prst="rect">
            <a:avLst/>
          </a:prstGeom>
          <a:solidFill>
            <a:srgbClr val="D7B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5431536"/>
            <a:ext cx="19202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Worst ✗✗
(−58.77 pts NCC)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6355080"/>
            <a:ext cx="11612880" cy="36576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37336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C9C"/>
                </a:solidFill>
              </a:rPr>
              <a:t>Rule: CMF damage ∝ (has fixed target) × (direction consistent) × (multi-epoch) × (data quality)  — the better a method unlearns alone, the more CMF can amplify and destroy 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CMF Pipeline: Static → Post-hoc → Gated 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Three-stage progression and where each stage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566160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Stage 1
CMF-Static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3566160" cy="1325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Run base unlearning
(encoder + W updated)
recompute_cmf() each epoch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94760"/>
            <a:ext cx="356616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313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Encoder: ✓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06240"/>
            <a:ext cx="3566160" cy="365760"/>
          </a:xfrm>
          <a:prstGeom prst="rect">
            <a:avLst/>
          </a:prstGeom>
          <a:solidFill>
            <a:srgbClr val="A9D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2428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 (CMF): ✓ Recomputed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17720"/>
            <a:ext cx="3566160" cy="365760"/>
          </a:xfrm>
          <a:prstGeom prst="rect">
            <a:avLst/>
          </a:prstGeom>
          <a:solidFill>
            <a:srgbClr val="F5B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6542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Duration: 3–4 epochs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86C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566160" cy="9144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44475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Stage 2
CMF Post-hoc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377440"/>
            <a:ext cx="3566160" cy="1325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Freeze encoder.
Train only W via gradient
on retain distribution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94760"/>
            <a:ext cx="3566160" cy="3657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8313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Encoder: ✗ Frozen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206240"/>
            <a:ext cx="3566160" cy="365760"/>
          </a:xfrm>
          <a:prstGeom prst="rect">
            <a:avLst/>
          </a:prstGeom>
          <a:solidFill>
            <a:srgbClr val="A9D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2428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 (CMF): ✓ Trained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617720"/>
            <a:ext cx="3566160" cy="365760"/>
          </a:xfrm>
          <a:prstGeom prst="rect">
            <a:avLst/>
          </a:prstGeom>
          <a:solidFill>
            <a:srgbClr val="F5B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6542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Duration: 5 epochs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BC9C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417320"/>
            <a:ext cx="3566160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44475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Stage 3
Gated Encoder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377440"/>
            <a:ext cx="3566160" cy="1325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42316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Gate: skip if already
in oracle zone. Per-epoch
loop with revert on over-erase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794760"/>
            <a:ext cx="356616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8313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Encoder: ✓ Conditional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4206240"/>
            <a:ext cx="3566160" cy="365760"/>
          </a:xfrm>
          <a:prstGeom prst="rect">
            <a:avLst/>
          </a:prstGeom>
          <a:solidFill>
            <a:srgbClr val="F5B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2428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 (CMF): ✗ Frozen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617720"/>
            <a:ext cx="3566160" cy="365760"/>
          </a:xfrm>
          <a:prstGeom prst="rect">
            <a:avLst/>
          </a:prstGeom>
          <a:solidFill>
            <a:srgbClr val="F5B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6542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Gate: NCC-based stop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120640"/>
            <a:ext cx="11430000" cy="15544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1663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Output Forget Accuracy (mean, CIFAR-10, k=5, retain_only)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596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5A5A6"/>
                </a:solidFill>
              </a:rPr>
              <a:t>TARUN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70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</a:rPr>
              <a:t>Static: 13.15%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199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BC9C"/>
                </a:solidFill>
              </a:rPr>
              <a:t>Post-hoc: 0.03%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5596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5A5A6"/>
                </a:solidFill>
              </a:rPr>
              <a:t>SCRUB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5870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</a:rPr>
              <a:t>Static: 32.54%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6199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BC9C"/>
                </a:solidFill>
              </a:rPr>
              <a:t>Post-hoc: 4.65%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5596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5A5A6"/>
                </a:solidFill>
              </a:rPr>
              <a:t>SalUn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870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</a:rPr>
              <a:t>Static: 83.90%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6199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BC9C"/>
                </a:solidFill>
              </a:rPr>
              <a:t>Post-hoc: 66.08%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5596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5A5A6"/>
                </a:solidFill>
              </a:rPr>
              <a:t>Rand.Label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5870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</a:rPr>
              <a:t>Static: 87.27%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6199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BC9C"/>
                </a:solidFill>
              </a:rPr>
              <a:t>Post-hoc: 78.31%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596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5A5A6"/>
                </a:solidFill>
              </a:rPr>
              <a:t>NegGrad+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870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</a:rPr>
              <a:t>Static: 51.46%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6199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BC9C"/>
                </a:solidFill>
              </a:rPr>
              <a:t>Post-hoc: 45.96%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What the algorithm analysis tells us about CMF compatibility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577840" cy="2103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73152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CMF Amplification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39112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A5A6"/>
                </a:solidFill>
              </a:rPr>
              <a:t>CMF silently amplifies any consistent ascent signal. Methods with clear target + steady direction (SCRUB, TARUN) suffer the most. Methods with noisy/random direction (random_label, SalUn) are partially shielded.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5577840" cy="2103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73152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NegGrad+ is Different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39112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A5A6"/>
                </a:solidFill>
              </a:rPr>
              <a:t>The only method where CMF is NOT the culprit. Unbounded −CE already over-erases before CMF acts. Post-hoc helps here by removing the rigid CMF classifier constraint.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5577840" cy="2103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73152" cy="21031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Post-hoc as the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25112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A5A6"/>
                </a:solidFill>
              </a:rPr>
              <a:t>Freezing encoder + training W via gradient (Post-hoc) is 4–16× faster and strictly stronger than CMF-Static for all methods except NegGrad+ where both Stage 1 damage and Post-hoc benefit are moderate.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94760"/>
            <a:ext cx="5577840" cy="21031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94760"/>
            <a:ext cx="73152" cy="2103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86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Gated Stage 3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25112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A5A6"/>
                </a:solidFill>
              </a:rPr>
              <a:t>Per-epoch gate (skip if already in oracle zone) + revert on over-erase + retain-CE safety term — prevents Stage 3 from undoing the post-hoc gains and protects against the feedback loop.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825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Full analysis: CMF_Method_Compatibility_Analysis.md  ·  Benchmark: REPORT_CMF_STATIC_VS_POSTHOC.md  ·  Paper: arXiv:2604.08271v1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5A5A6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